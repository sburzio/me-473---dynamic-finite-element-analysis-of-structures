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71" r:id="rId7"/>
    <p:sldId id="28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0" r:id="rId18"/>
    <p:sldId id="258" r:id="rId19"/>
    <p:sldId id="259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77949"/>
  </p:normalViewPr>
  <p:slideViewPr>
    <p:cSldViewPr snapToGrid="0" snapToObjects="1" showGuides="1">
      <p:cViewPr varScale="1">
        <p:scale>
          <a:sx n="215" d="100"/>
          <a:sy n="215" d="100"/>
        </p:scale>
        <p:origin x="80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50" d="100"/>
          <a:sy n="150" d="100"/>
        </p:scale>
        <p:origin x="60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19.12.24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19/12/2024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4473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396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30405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5B95-775F-79DD-385E-5C0705E7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88C4861-1BD4-AE02-A88E-AA1F552EB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8B2ECF-F680-6CF8-ACB2-C5B3DB524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C26016D-2851-6D30-206E-103F1BA29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3788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340D-6387-5FEB-1BA0-A6F16269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77CDF7A-C86E-B5AF-1762-B05114154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04C05A-3364-5A99-0671-58CFA51D2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FA2FCC-E0C8-A9C7-7EFD-F4789D690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149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8A605-3342-3971-07BD-DA9430FA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8AF3E09-7558-E2FA-CD74-0A051771D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2C0A8AF-5869-B827-1E89-9AAD83F35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390807B-5677-4B5B-5F33-5B7DFCB3F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4971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4405-C70F-6609-F5D5-217A6242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0C876F7-C493-8657-DEDE-7E5D7BF05E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2A3BADC-4EC8-C154-5752-4255BD3C9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39358B-CEBC-601A-A044-A0FFB738A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9094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6C05-01D7-CED8-9840-43352085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9B17EDD-9E7A-40B0-DF89-38AC9DB3C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454824-D486-126D-9A3E-2B37E86CE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F77F08-11AF-6ABC-FB39-6AA621597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8956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BEDAA-43D0-5E24-199C-04CAF343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CC7065B-A976-E074-48B4-EC44A484D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A92E918-63FC-C8BC-F0E8-240ABD72F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B2F5A7-AEDB-DFB6-D991-6B19A8920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2091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A3A1-43D7-8181-8E0A-BB5AFCEAD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C4CEFB-ABE6-F68C-3CF8-59D21C8EB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9750BDF-9B86-ACD3-B60D-595207D9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7EB30F-A3DB-5519-8F58-1D265433F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5054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E65D1-034B-5C91-2DBC-AD265A86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E5F1F85-E1B4-1292-0B9C-648E93D68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1E1B03-F1E2-1418-4F97-084D9868B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A60BC3-20ED-7D1C-B259-6AC8D6580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2329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3E79-B9CA-5F41-1969-3FF3A339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332CF09-1087-1673-269C-1C0B1A15E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45DB36-6955-FF71-29DD-F6B269884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DD9101C-BA90-BB49-885E-473AFB032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3791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4ABD4-94EC-4AE4-4ECD-7D8412FD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CC0DF8-65E4-22C2-AE8E-56514E284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DB186F-E29D-5D93-1C80-6E3CB10C3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D3A0ED-0CF3-302F-5C03-B7C3CC98F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0077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0" y="468312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187583-F16A-6F41-8B68-000F9C9C20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550" y="4440264"/>
            <a:ext cx="698500" cy="507975"/>
          </a:xfrm>
        </p:spPr>
        <p:txBody>
          <a:bodyPr lIns="0" tIns="0" rIns="0" bIns="0" anchor="b" anchorCtr="0">
            <a:noAutofit/>
          </a:bodyPr>
          <a:lstStyle>
            <a:lvl1pPr marL="114300" indent="-107950">
              <a:buFontTx/>
              <a:buBlip>
                <a:blip r:embed="rId3"/>
              </a:buBlip>
              <a:tabLst/>
              <a:defRPr sz="7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826567D5-4A83-9E48-B441-CCB2A72BA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830A539-93F1-2541-B9F0-330893BD51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E34C2B73-67B7-BB4C-AE0F-7D16D8DD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9FF6AA9-AC16-D748-B815-56221BFFF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8239125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571750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E5EA1C-63CE-2C4F-B9F4-39FDBC14B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7A5892-F23D-BD48-84D1-FD279BA168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E6F4EB-CC02-6E4D-9146-CE4A7A789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D4AA2C-29B3-CA42-B7C3-C932911A75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37CF3032-2465-874C-B786-95E1B594A5A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AF73E2A-22D7-894A-9267-185CB4E4B1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8101AB-8ACE-BB4C-9D61-B4AABFE1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F9CFC1D-0B2A-0A4E-9C0D-682EECA55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622065-A833-2340-B0FD-ACB065A3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-1221413" y="2778452"/>
            <a:ext cx="3341052" cy="911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Speaker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132334"/>
            <a:ext cx="653952" cy="28302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D7A1C0-94CD-D94F-A99F-21847E542637}"/>
              </a:ext>
            </a:extLst>
          </p:cNvPr>
          <p:cNvSpPr/>
          <p:nvPr userDrawn="1"/>
        </p:nvSpPr>
        <p:spPr>
          <a:xfrm rot="16200000">
            <a:off x="430003" y="4897709"/>
            <a:ext cx="45719" cy="59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ttyimages.ch/detail/foto/rubber-band-ball-lizenzfreies-bild/10662200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4.gif"/><Relationship Id="rId7" Type="http://schemas.openxmlformats.org/officeDocument/2006/relationships/image" Target="../media/image8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gif"/><Relationship Id="rId5" Type="http://schemas.openxmlformats.org/officeDocument/2006/relationships/image" Target="../media/image6.gif"/><Relationship Id="rId4" Type="http://schemas.openxmlformats.org/officeDocument/2006/relationships/image" Target="../media/image5.gif"/><Relationship Id="rId9" Type="http://schemas.openxmlformats.org/officeDocument/2006/relationships/hyperlink" Target="https://nojigon.webs.upv.es/simulations_plate.ph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pfl.swisscovery.slsp.ch/discovery/fulldisplay?docid=alma990016848600205516&amp;context=L&amp;vid=41SLSP_EPF:prod&amp;lang=en&amp;search_scope=MyInst_and_CI&amp;adaptor=Local%20Search%20Engine&amp;tab=41SLSP_EPF_MyInst_and_CI&amp;query=any,contains,gm&#252;r%20dynamique%20structures&amp;sortby=date_d&amp;facet=frbrgroupid,include,9023061793468147787&amp;offset=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pfl.swisscovery.slsp.ch/discovery/fulldisplay?docid=cdi_globaltitleindex_catalog_335884842&amp;context=PC&amp;vid=41SLSP_EPF:prod&amp;lang=en&amp;search_scope=MyInst_and_CI&amp;adaptor=Primo%20Central&amp;tab=41SLSP_EPF_MyInst_and_CI&amp;query=any,contains,%5D%20Neto,%20et%20all.%20-%20Engineering%20Computation%20of%20Structures%20&amp;facet=rtype,exclude,reviews,lk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Espace réservé pour une image  11">
            <a:hlinkClick r:id="rId3"/>
            <a:extLst>
              <a:ext uri="{FF2B5EF4-FFF2-40B4-BE49-F238E27FC236}">
                <a16:creationId xmlns:a16="http://schemas.microsoft.com/office/drawing/2014/main" id="{1DEF7624-503B-93C0-D42A-DA430DCBFF9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825" t="13527" r="43224" b="10149"/>
          <a:stretch/>
        </p:blipFill>
        <p:spPr>
          <a:xfrm>
            <a:off x="850967" y="631964"/>
            <a:ext cx="4495145" cy="3526118"/>
          </a:xfrm>
          <a:prstGeom prst="rect">
            <a:avLst/>
          </a:prstGeom>
        </p:spPr>
      </p:pic>
      <p:sp>
        <p:nvSpPr>
          <p:cNvPr id="3" name="Titre 2" descr="(Credit: Getty Images)&#10;">
            <a:extLst>
              <a:ext uri="{FF2B5EF4-FFF2-40B4-BE49-F238E27FC236}">
                <a16:creationId xmlns:a16="http://schemas.microsoft.com/office/drawing/2014/main" id="{55A5C923-5A79-224D-A6A6-8267C6475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6597" y="635995"/>
            <a:ext cx="3238509" cy="1948737"/>
          </a:xfrm>
        </p:spPr>
        <p:txBody>
          <a:bodyPr/>
          <a:lstStyle/>
          <a:p>
            <a:r>
              <a:rPr lang="en-US" dirty="0"/>
              <a:t> Linear </a:t>
            </a:r>
            <a:r>
              <a:rPr lang="en-US" dirty="0" err="1"/>
              <a:t>elastodynamics</a:t>
            </a:r>
            <a:endParaRPr lang="en-US" dirty="0"/>
          </a:p>
        </p:txBody>
      </p:sp>
      <p:sp>
        <p:nvSpPr>
          <p:cNvPr id="4" name="Sous-titre 3">
            <a:extLst>
              <a:ext uri="{FF2B5EF4-FFF2-40B4-BE49-F238E27FC236}">
                <a16:creationId xmlns:a16="http://schemas.microsoft.com/office/drawing/2014/main" id="{34F3CA74-E434-844A-9C90-0FE7EB8DB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828" y="2623550"/>
            <a:ext cx="3962400" cy="1034702"/>
          </a:xfrm>
        </p:spPr>
        <p:txBody>
          <a:bodyPr/>
          <a:lstStyle/>
          <a:p>
            <a:r>
              <a:rPr lang="en-US" dirty="0"/>
              <a:t>ME-473</a:t>
            </a:r>
          </a:p>
          <a:p>
            <a:r>
              <a:rPr lang="en-US" dirty="0"/>
              <a:t>Dynamic finite element analysis of structures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C3BCA55-E2C0-5C4E-89C0-5D85ED2FB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64233" y="3701955"/>
            <a:ext cx="1828800" cy="460375"/>
          </a:xfrm>
        </p:spPr>
        <p:txBody>
          <a:bodyPr/>
          <a:lstStyle/>
          <a:p>
            <a:r>
              <a:rPr lang="fr-FR" sz="1200" dirty="0"/>
              <a:t>Stefano Burzio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6E71565-8FE6-94B5-42F1-ACDD2C0712F8}"/>
              </a:ext>
            </a:extLst>
          </p:cNvPr>
          <p:cNvSpPr txBox="1"/>
          <p:nvPr/>
        </p:nvSpPr>
        <p:spPr>
          <a:xfrm>
            <a:off x="850967" y="4120596"/>
            <a:ext cx="14847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(Credit: </a:t>
            </a:r>
            <a:r>
              <a:rPr lang="en-US" sz="10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Getty Images</a:t>
            </a:r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527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E3DCC4-356B-A340-9BF5-39AD9E375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824" y="849234"/>
            <a:ext cx="4059238" cy="3445032"/>
          </a:xfrm>
        </p:spPr>
        <p:txBody>
          <a:bodyPr/>
          <a:lstStyle/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US" b="1" dirty="0"/>
              <a:t>Linear</a:t>
            </a:r>
            <a:r>
              <a:rPr lang="en-US" dirty="0"/>
              <a:t> : infinitesimally small deformations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US" b="1" dirty="0"/>
              <a:t>Elasticity</a:t>
            </a:r>
            <a:r>
              <a:rPr lang="en-US" dirty="0"/>
              <a:t> : material return to its original shape and size when the forces causing the deformation are removed.</a:t>
            </a:r>
          </a:p>
          <a:p>
            <a:pPr marL="285750" indent="-285750">
              <a:buClr>
                <a:schemeClr val="bg1"/>
              </a:buClr>
              <a:buFont typeface="Wingdings" pitchFamily="2" charset="2"/>
              <a:buChar char="§"/>
            </a:pPr>
            <a:r>
              <a:rPr lang="en-US" b="1" dirty="0"/>
              <a:t>Dynamics</a:t>
            </a:r>
            <a:r>
              <a:rPr lang="en-US" dirty="0"/>
              <a:t> : The formulation given here generalizes the formulation of ME-372, which was restricted to steady state problems, to time dependent</a:t>
            </a:r>
          </a:p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253E77-58BB-5342-B218-CB0FEF98A9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</a:t>
            </a:fld>
            <a:endParaRPr lang="fr-FR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C0CDDA1-BF20-0C3D-BFFD-C8E79FFFB58B}"/>
              </a:ext>
            </a:extLst>
          </p:cNvPr>
          <p:cNvGrpSpPr/>
          <p:nvPr/>
        </p:nvGrpSpPr>
        <p:grpSpPr>
          <a:xfrm>
            <a:off x="800973" y="724386"/>
            <a:ext cx="3179691" cy="3600000"/>
            <a:chOff x="711908" y="641259"/>
            <a:chExt cx="3179691" cy="3600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C012E3B-CA76-0607-540F-930D8F98F75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11908" y="641259"/>
              <a:ext cx="1400384" cy="3600000"/>
              <a:chOff x="444717" y="617517"/>
              <a:chExt cx="1429710" cy="3669100"/>
            </a:xfrm>
          </p:grpSpPr>
          <p:pic>
            <p:nvPicPr>
              <p:cNvPr id="15" name="Image 14">
                <a:extLst>
                  <a:ext uri="{FF2B5EF4-FFF2-40B4-BE49-F238E27FC236}">
                    <a16:creationId xmlns:a16="http://schemas.microsoft.com/office/drawing/2014/main" id="{590D0F26-32B9-344A-0FDD-F9FC21D3A5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4717" y="617517"/>
                <a:ext cx="1429710" cy="1080000"/>
              </a:xfrm>
              <a:prstGeom prst="rect">
                <a:avLst/>
              </a:prstGeom>
            </p:spPr>
          </p:pic>
          <p:pic>
            <p:nvPicPr>
              <p:cNvPr id="19" name="Image 18">
                <a:extLst>
                  <a:ext uri="{FF2B5EF4-FFF2-40B4-BE49-F238E27FC236}">
                    <a16:creationId xmlns:a16="http://schemas.microsoft.com/office/drawing/2014/main" id="{41F7C054-46AB-B7A6-AE4A-08BDE4CFE7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717" y="1912067"/>
                <a:ext cx="1429710" cy="1080000"/>
              </a:xfrm>
              <a:prstGeom prst="rect">
                <a:avLst/>
              </a:prstGeom>
            </p:spPr>
          </p:pic>
          <p:pic>
            <p:nvPicPr>
              <p:cNvPr id="23" name="Image 22">
                <a:extLst>
                  <a:ext uri="{FF2B5EF4-FFF2-40B4-BE49-F238E27FC236}">
                    <a16:creationId xmlns:a16="http://schemas.microsoft.com/office/drawing/2014/main" id="{DC2B5726-B33C-DE79-A217-B8AF54E0E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4717" y="3206617"/>
                <a:ext cx="1429710" cy="1080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703877-416B-0C41-91CB-DEF71061836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11297" y="641259"/>
              <a:ext cx="1380302" cy="3600000"/>
              <a:chOff x="2244135" y="653143"/>
              <a:chExt cx="1429710" cy="3591911"/>
            </a:xfrm>
          </p:grpSpPr>
          <p:pic>
            <p:nvPicPr>
              <p:cNvPr id="17" name="Image 16">
                <a:extLst>
                  <a:ext uri="{FF2B5EF4-FFF2-40B4-BE49-F238E27FC236}">
                    <a16:creationId xmlns:a16="http://schemas.microsoft.com/office/drawing/2014/main" id="{EDE506BC-F6A0-C1C6-8121-E8F26A731F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44135" y="653143"/>
                <a:ext cx="1429710" cy="1080000"/>
              </a:xfrm>
              <a:prstGeom prst="rect">
                <a:avLst/>
              </a:prstGeom>
            </p:spPr>
          </p:pic>
          <p:pic>
            <p:nvPicPr>
              <p:cNvPr id="21" name="Image 20">
                <a:extLst>
                  <a:ext uri="{FF2B5EF4-FFF2-40B4-BE49-F238E27FC236}">
                    <a16:creationId xmlns:a16="http://schemas.microsoft.com/office/drawing/2014/main" id="{C749D007-90D2-129C-3E36-2441315562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4135" y="1909098"/>
                <a:ext cx="1429710" cy="1080000"/>
              </a:xfrm>
              <a:prstGeom prst="rect">
                <a:avLst/>
              </a:prstGeom>
            </p:spPr>
          </p:pic>
          <p:pic>
            <p:nvPicPr>
              <p:cNvPr id="25" name="Image 24" descr="Une image contenant créativité&#10;&#10;Description générée automatiquement">
                <a:extLst>
                  <a:ext uri="{FF2B5EF4-FFF2-40B4-BE49-F238E27FC236}">
                    <a16:creationId xmlns:a16="http://schemas.microsoft.com/office/drawing/2014/main" id="{40778229-DF7A-5029-8FB0-BC99337036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44135" y="3165054"/>
                <a:ext cx="1429710" cy="1080000"/>
              </a:xfrm>
              <a:prstGeom prst="rect">
                <a:avLst/>
              </a:prstGeom>
            </p:spPr>
          </p:pic>
        </p:grpSp>
      </p:grpSp>
      <p:sp>
        <p:nvSpPr>
          <p:cNvPr id="26" name="ZoneTexte 25">
            <a:extLst>
              <a:ext uri="{FF2B5EF4-FFF2-40B4-BE49-F238E27FC236}">
                <a16:creationId xmlns:a16="http://schemas.microsoft.com/office/drawing/2014/main" id="{69C0330D-4D64-C11D-9A2B-30C62E205AC5}"/>
              </a:ext>
            </a:extLst>
          </p:cNvPr>
          <p:cNvSpPr txBox="1"/>
          <p:nvPr/>
        </p:nvSpPr>
        <p:spPr>
          <a:xfrm>
            <a:off x="800973" y="4517353"/>
            <a:ext cx="1428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(Credit: </a:t>
            </a:r>
            <a:r>
              <a:rPr lang="en-US" sz="1000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Noé Jiménez</a:t>
            </a:r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907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42A9-A183-1897-7C8D-99FD53F79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64EC2CF-9855-0925-168C-61149EABA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895" y="1202530"/>
            <a:ext cx="7726363" cy="190390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Underlying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Notations and conventions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Equilibrium equations of 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Strong formulation </a:t>
            </a:r>
            <a:r>
              <a:rPr lang="en-US" sz="1500" dirty="0"/>
              <a:t>of equilibrium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Example: longitudinal vibration of bars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/>
              <a:t>Weak formulation </a:t>
            </a:r>
            <a:r>
              <a:rPr lang="en-US" sz="1500" dirty="0"/>
              <a:t>of equilibrium equations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4F3FEBF-0EBD-565E-E284-BF196811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54783"/>
            <a:ext cx="3667125" cy="1072753"/>
          </a:xfrm>
        </p:spPr>
        <p:txBody>
          <a:bodyPr anchor="ctr"/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Summary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10BDDD-9342-B0A5-DC31-B1BB900DF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Titre 2">
            <a:extLst>
              <a:ext uri="{FF2B5EF4-FFF2-40B4-BE49-F238E27FC236}">
                <a16:creationId xmlns:a16="http://schemas.microsoft.com/office/drawing/2014/main" id="{83F85495-5AA9-77FC-A6B7-72E2ACF13DF7}"/>
              </a:ext>
            </a:extLst>
          </p:cNvPr>
          <p:cNvSpPr txBox="1">
            <a:spLocks/>
          </p:cNvSpPr>
          <p:nvPr/>
        </p:nvSpPr>
        <p:spPr>
          <a:xfrm>
            <a:off x="904875" y="3081431"/>
            <a:ext cx="4415270" cy="868474"/>
          </a:xfrm>
          <a:prstGeom prst="rect">
            <a:avLst/>
          </a:prstGeom>
        </p:spPr>
        <p:txBody>
          <a:bodyPr vert="horz" lIns="180000" tIns="0" rIns="72000" bIns="4680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000" spc="-70" baseline="0">
                <a:solidFill>
                  <a:schemeClr val="tx1"/>
                </a:solidFill>
                <a:latin typeface="Franklin Gothic Demi Cond" panose="020B0706030402020204" pitchFamily="34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Recommended readings</a:t>
            </a:r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0EF4F34B-8D24-6BFE-1754-7C2C23F8F6B8}"/>
              </a:ext>
            </a:extLst>
          </p:cNvPr>
          <p:cNvSpPr txBox="1">
            <a:spLocks/>
          </p:cNvSpPr>
          <p:nvPr/>
        </p:nvSpPr>
        <p:spPr>
          <a:xfrm>
            <a:off x="801955" y="3788332"/>
            <a:ext cx="7726363" cy="2224540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Espace réservé du contenu 1">
            <a:extLst>
              <a:ext uri="{FF2B5EF4-FFF2-40B4-BE49-F238E27FC236}">
                <a16:creationId xmlns:a16="http://schemas.microsoft.com/office/drawing/2014/main" id="{E9D80430-3FA8-9674-AA53-6B25219816B3}"/>
              </a:ext>
            </a:extLst>
          </p:cNvPr>
          <p:cNvSpPr txBox="1">
            <a:spLocks/>
          </p:cNvSpPr>
          <p:nvPr/>
        </p:nvSpPr>
        <p:spPr>
          <a:xfrm>
            <a:off x="902895" y="3924899"/>
            <a:ext cx="7726363" cy="94992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SzPct val="90000"/>
              <a:buFont typeface="Wingdings" pitchFamily="2" charset="2"/>
              <a:buChar char="§"/>
              <a:defRPr sz="15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[</a:t>
            </a:r>
            <a:r>
              <a:rPr lang="en-US" sz="15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GM</a:t>
            </a:r>
            <a:r>
              <a:rPr lang="en-US" sz="1500" dirty="0"/>
              <a:t>] </a:t>
            </a:r>
            <a:r>
              <a:rPr lang="en-US" sz="1500" dirty="0" err="1"/>
              <a:t>Gmür</a:t>
            </a:r>
            <a:r>
              <a:rPr lang="en-US" sz="1500" dirty="0"/>
              <a:t>, </a:t>
            </a:r>
            <a:r>
              <a:rPr lang="en-US" sz="1500" dirty="0" err="1"/>
              <a:t>Dynamique</a:t>
            </a:r>
            <a:r>
              <a:rPr lang="en-US" sz="1500" dirty="0"/>
              <a:t> des structures (§2.1 and §2.2)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[</a:t>
            </a:r>
            <a:r>
              <a:rPr lang="en-US" sz="15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</a:t>
            </a:r>
            <a:r>
              <a:rPr lang="en-US" sz="1500" dirty="0"/>
              <a:t>] Neto, et al., Engineering Computation of Structures (Chap. 1)</a:t>
            </a:r>
          </a:p>
        </p:txBody>
      </p:sp>
    </p:spTree>
    <p:extLst>
      <p:ext uri="{BB962C8B-B14F-4D97-AF65-F5344CB8AC3E}">
        <p14:creationId xmlns:p14="http://schemas.microsoft.com/office/powerpoint/2010/main" val="3640709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FEC2-746D-CB0C-7017-8F113E2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2F1C455-8DDF-2A3A-542B-39CB9D9931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4875" y="1563688"/>
                <a:ext cx="4937785" cy="3386772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Continous three-dimensional elastic body with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and surface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Inertial reference frame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Continuous time-dependent (unknown) displacement field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0" dirty="0"/>
              </a:p>
            </p:txBody>
          </p:sp>
        </mc:Choice>
        <mc:Fallback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2F1C455-8DDF-2A3A-542B-39CB9D993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4875" y="1563688"/>
                <a:ext cx="4937785" cy="3386772"/>
              </a:xfrm>
              <a:blipFill>
                <a:blip r:embed="rId3"/>
                <a:stretch>
                  <a:fillRect t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DAC86F26-85C5-4FC7-56E6-8823662F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4516211" cy="1072753"/>
          </a:xfrm>
        </p:spPr>
        <p:txBody>
          <a:bodyPr anchor="ctr"/>
          <a:lstStyle/>
          <a:p>
            <a:r>
              <a:rPr lang="en-US" dirty="0"/>
              <a:t>Hypothesis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06781-DE37-02FD-D888-77E53CB0B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</a:t>
            </a:fld>
            <a:endParaRPr lang="fr-FR" dirty="0"/>
          </a:p>
        </p:txBody>
      </p:sp>
      <p:pic>
        <p:nvPicPr>
          <p:cNvPr id="5" name="Picture 4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2CDB1A1B-6917-40D8-C72A-DB8FADEEB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925" y="1454726"/>
            <a:ext cx="2236569" cy="201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9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B069-4024-01E5-B101-0A4FEFC3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ube with numbers and lines&#10;&#10;Description automatically generated">
            <a:extLst>
              <a:ext uri="{FF2B5EF4-FFF2-40B4-BE49-F238E27FC236}">
                <a16:creationId xmlns:a16="http://schemas.microsoft.com/office/drawing/2014/main" id="{E73648E5-3B30-46A0-B96B-AF894A799C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9148" r="9151" b="-2"/>
          <a:stretch/>
        </p:blipFill>
        <p:spPr>
          <a:xfrm>
            <a:off x="613930" y="1468685"/>
            <a:ext cx="2610221" cy="2971250"/>
          </a:xfr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91793048-EB5F-642A-530D-A55C7541D4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08219" y="1563688"/>
                <a:ext cx="5222702" cy="338677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Stress tensor: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Strain tensor: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/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b="0" dirty="0"/>
              </a:p>
              <a:p>
                <a:pPr marL="0" indent="0" algn="ctr">
                  <a:buNone/>
                </a:pPr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91793048-EB5F-642A-530D-A55C7541D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08219" y="1563688"/>
                <a:ext cx="5222702" cy="3386772"/>
              </a:xfrm>
              <a:blipFill>
                <a:blip r:embed="rId4"/>
                <a:stretch>
                  <a:fillRect t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22F8D21-EA39-A20F-1CFC-2568B017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5240606" cy="1072753"/>
          </a:xfrm>
        </p:spPr>
        <p:txBody>
          <a:bodyPr anchor="ctr">
            <a:normAutofit/>
          </a:bodyPr>
          <a:lstStyle/>
          <a:p>
            <a:r>
              <a:rPr lang="en-US" dirty="0"/>
              <a:t>Stress and strain tensors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18812B-0CB5-6EC6-3F48-B62E084C28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31238" y="195263"/>
            <a:ext cx="512762" cy="163552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E1E1CD7C-2161-7D43-862E-CE4C333CD873}" type="slidenum">
              <a:rPr lang="fr-FR" smtClean="0"/>
              <a:pPr>
                <a:spcAft>
                  <a:spcPts val="600"/>
                </a:spcAft>
              </a:pPr>
              <a:t>5</a:t>
            </a:fld>
            <a:endParaRPr lang="fr-FR"/>
          </a:p>
        </p:txBody>
      </p:sp>
      <p:sp>
        <p:nvSpPr>
          <p:cNvPr id="7" name="ZoneTexte 25">
            <a:extLst>
              <a:ext uri="{FF2B5EF4-FFF2-40B4-BE49-F238E27FC236}">
                <a16:creationId xmlns:a16="http://schemas.microsoft.com/office/drawing/2014/main" id="{694AB0BB-DD90-1C85-855A-ABD901E7CB18}"/>
              </a:ext>
            </a:extLst>
          </p:cNvPr>
          <p:cNvSpPr txBox="1"/>
          <p:nvPr/>
        </p:nvSpPr>
        <p:spPr>
          <a:xfrm>
            <a:off x="765348" y="4262034"/>
            <a:ext cx="14285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(Credit: [N])</a:t>
            </a:r>
          </a:p>
        </p:txBody>
      </p:sp>
    </p:spTree>
    <p:extLst>
      <p:ext uri="{BB962C8B-B14F-4D97-AF65-F5344CB8AC3E}">
        <p14:creationId xmlns:p14="http://schemas.microsoft.com/office/powerpoint/2010/main" val="306818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07DF7-92FD-22A1-D839-79D3EF84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F465092-ABB7-7E98-DB4E-32CA4A75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0D8F6E0-DB16-995E-9293-930497E5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4516211" cy="1072753"/>
          </a:xfrm>
        </p:spPr>
        <p:txBody>
          <a:bodyPr anchor="ctr"/>
          <a:lstStyle/>
          <a:p>
            <a:r>
              <a:rPr lang="en-US" dirty="0"/>
              <a:t>Generalized Hooke’s law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B7EA5C-3E92-63CF-5B9C-35FE90059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258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B7658-B34D-6B36-21B8-F17D59910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8B496DF-2816-5B57-6714-E87F90D20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229DE85-DA1B-721F-340F-B0DD63A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4516211" cy="1072753"/>
          </a:xfrm>
        </p:spPr>
        <p:txBody>
          <a:bodyPr anchor="ctr"/>
          <a:lstStyle/>
          <a:p>
            <a:r>
              <a:rPr lang="en-US" dirty="0"/>
              <a:t>Stress–strain relationship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7BBD78-577A-C6AC-48EE-9DB89E29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7446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6860-4B9E-A14B-3AA0-1446934AD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B24C1067-84EA-2D7F-550E-44789B59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Newton’s 2</a:t>
            </a:r>
            <a:r>
              <a:rPr lang="en-US" baseline="30000" dirty="0"/>
              <a:t>nd</a:t>
            </a:r>
            <a:r>
              <a:rPr lang="en-US" dirty="0"/>
              <a:t>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Conservation principle (balance of forces)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D8698E8-6B1E-5646-029C-1C4343D6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Differential equations of movement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64F8C5-A046-3B7D-AB5E-70630CE3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7847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C569-C898-FFAB-0A36-49B14AE3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E8F54A6-D656-1359-8BF7-A7F3F3615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surface is divided into two types: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80D4AE66-D69A-A479-B647-19AD938C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Boundary conditions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167E61-6A7F-9B38-5820-41461DC0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2574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B9F8B-CEAF-62CD-5F0C-21E48D83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8FCA637-8B4C-4B06-8B58-3085BB084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439667A-CF15-AE9C-0F68-F2B57F714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Initial conditions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BC7EA2-4FA5-DECF-B240-9F20FC4E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343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9F38F-94E0-415B-5F6B-F56317BF9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E65FDDE-9D49-D9C1-3A31-3E3C2F9DB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808FFA0-484F-C0FF-B302-A251114CB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Remarks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9F5D19-7857-39C1-EFAF-2CC0EDD7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270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C189-19F6-6E4F-2F24-266B8F427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93EEE76-5832-3ADD-F60B-E7BB2A12F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885BC0B-84F2-3903-5067-E29690C1C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Example: longitudinal vibration of a bar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A31344-6D47-DBF1-7501-8CAD23FE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4668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BD5D1-6F08-9769-7C83-E13C4E04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43DD317-32FA-3999-1AAB-DDE078B59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C2C1977-11DB-A76D-10A7-257CC2B3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5" y="131032"/>
            <a:ext cx="7716611" cy="1072753"/>
          </a:xfrm>
        </p:spPr>
        <p:txBody>
          <a:bodyPr anchor="ctr"/>
          <a:lstStyle/>
          <a:p>
            <a:r>
              <a:rPr lang="en-US" dirty="0"/>
              <a:t>Weak formulation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1D2D26-7CD5-9C9E-F29A-3020A7E87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7695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C04D4F0-9F00-D043-B80F-52268AB00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ADC9092-B8AD-9448-9690-13D94442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AD287-D36E-824B-97DA-B5B92B429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D9CD81-F741-E34D-918B-87902044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C95DC5-778C-474A-AD7D-E5E2435C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9429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C2303-32F1-B840-8826-D5D2A570F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415242"/>
            <a:ext cx="4058920" cy="560854"/>
          </a:xfrm>
        </p:spPr>
        <p:txBody>
          <a:bodyPr/>
          <a:lstStyle/>
          <a:p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5D3C24-6B99-BB48-AB10-AA3CB1F67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Underlying</a:t>
            </a:r>
            <a:r>
              <a:rPr lang="fr-FR" dirty="0"/>
              <a:t> </a:t>
            </a:r>
            <a:r>
              <a:rPr lang="fr-FR" dirty="0" err="1"/>
              <a:t>hypothesis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Notations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Equilibirum</a:t>
            </a:r>
            <a:r>
              <a:rPr lang="fr-FR" dirty="0"/>
              <a:t> </a:t>
            </a:r>
            <a:r>
              <a:rPr lang="fr-FR" dirty="0" err="1"/>
              <a:t>equations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Strong formulation of </a:t>
            </a:r>
            <a:r>
              <a:rPr lang="fr-FR" dirty="0" err="1"/>
              <a:t>equilibirum</a:t>
            </a:r>
            <a:r>
              <a:rPr lang="fr-FR" dirty="0"/>
              <a:t> </a:t>
            </a:r>
            <a:r>
              <a:rPr lang="fr-FR" dirty="0" err="1"/>
              <a:t>equations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Example: longitudinal vibration of bars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Weak formulation of </a:t>
            </a:r>
            <a:r>
              <a:rPr lang="fr-FR" dirty="0" err="1"/>
              <a:t>equilibirum</a:t>
            </a:r>
            <a:r>
              <a:rPr lang="fr-FR" dirty="0"/>
              <a:t> </a:t>
            </a:r>
            <a:r>
              <a:rPr lang="fr-FR" dirty="0" err="1"/>
              <a:t>equations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B64B0A5-AFC4-9D4F-91AB-92F73D0D10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B9CEE1-BEF6-B540-A7CE-B486EF93624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659368-9571-8644-98C3-28A3170DC8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64CCD5-5BA5-E94A-A85A-BF62861AAB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61495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6A5DF-98DA-2646-BF29-216D95B51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E98268-DCAB-2F4E-BCED-FA785F468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B80C510-1275-1646-B3D2-A5ED0A32F2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4952CCD-1A2D-6041-BF6C-A17301F408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9A0770-B5CA-8A4C-9027-98426284A4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E4FE11-EC73-0F4B-90BC-9E6AF20A83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4791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0D324CA-9C3A-D341-9D35-EF336E361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EABE94-B05E-0C4F-8BC5-6756FBBBC0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E3D9599-6AD0-A54B-A8DB-E5D44637B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776DD9-9966-334C-AB8C-86A7550DDD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2CC2CF-A9E4-D54C-A3BC-4BEE6B21B74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24376F-AEFF-1D40-AB92-99A91B91E1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0241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62D6DE63-D5D6-8447-97B9-784B12164D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4DFDBD-C1E6-3745-995E-944489779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93B10A-ED1A-8846-97E5-AD42E8205C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F8F98-392F-EF4F-9223-2F5272E090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FECB62-E718-184B-8A74-3DEFF72656E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A38D484B-818F-2D49-8CFB-08CC9BC8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409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139961B7-A025-FA4E-BEF5-54435D787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096D2C-10CF-F54F-910E-300E27C76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6A7BAC-1FF0-0541-9F85-EBD9723850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2C8F6A-7134-484C-9DD6-B785DE5F55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0ECE36-6FA9-F448-B7FB-41F2F6A524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19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484B9A52-4FC3-684F-BF5F-786B61CB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1667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D92A7967-4865-E640-98DC-2F68AD32F27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3C4E0C-AC3E-5847-A768-F061CCF95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11B708E-5D66-AC4E-88EB-D50C6EC8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48F7D4-36A8-704E-AF37-08718846C3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20A50B-1D21-8C40-91A9-B311F6AF0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E2BFF2-E242-3048-A665-79FC4A427F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497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7BC4BC0-7D27-3444-A1AD-65DBA4239B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EF2C0-AFE0-5A40-B32F-5698F4F0B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6A5C954-4D50-5646-BD86-11914F92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981E69-B0C7-CB4A-8857-52A3E7987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FD7E3D-018E-5540-8143-D52C4B40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6594FF-570A-9347-A32A-D6F6024A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6488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40BEC9-5222-A344-BCF9-D94397D0C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B328C0A-2B46-D74A-A592-90FFD545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F33233-F767-C245-B534-36F99FB1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63D2A-0785-6841-AFED-A5664CA0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9978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46C84240-8C90-9C4E-AA06-7C974CB54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5750EBF-A2BC-EB47-895C-9F99B6E1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E83CAA4-5FD8-404D-8F15-5706BE6461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C3C0C4-9868-3542-8666-046912A5AF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5C13C4-81A0-424D-96F1-1A5F4EC264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6934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8ADDAD12-293C-B340-A08E-484210583D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5BFFCB-3ACB-EE46-920F-166A26D9D1B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8E3023-1712-2E47-9AB9-3F2B9CD62D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F7E616-128C-7A4F-B918-D0048750CC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605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1">
            <a:extLst>
              <a:ext uri="{FF2B5EF4-FFF2-40B4-BE49-F238E27FC236}">
                <a16:creationId xmlns:a16="http://schemas.microsoft.com/office/drawing/2014/main" id="{20D29B97-9E61-7A4F-8FEF-55FC4743B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4C28A0-A184-8649-A9A4-2BFB1D02EB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68D869-FEAE-4E41-8088-2B1F1C600E3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DA19A9-7B92-DE45-BDD7-1BC0F4B0E8A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1B401C-18BC-4649-B2B0-EB3EECC8764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25</a:t>
            </a:fld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B2CF7EEE-D0B7-6648-AE4B-B2B65E99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4944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45719D3-DDAF-D540-B7CA-401FA595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C37647-1EE4-834A-89ED-09051ECF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Speaker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C7E0B6A-DC11-3E4F-87D7-E96DD3A4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4166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C127AB4946248A5685C1F92D54FFE" ma:contentTypeVersion="0" ma:contentTypeDescription="Crée un document." ma:contentTypeScope="" ma:versionID="ef3ff242486930b75c69099c0dd02c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8CE09B-89B1-4B5D-BED2-87C84F077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8A6C70-7FF5-480A-B09B-7D0A19B2F43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585</TotalTime>
  <Words>363</Words>
  <Application>Microsoft Macintosh PowerPoint</Application>
  <PresentationFormat>On-screen Show (16:9)</PresentationFormat>
  <Paragraphs>115</Paragraphs>
  <Slides>26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Cambria Math</vt:lpstr>
      <vt:lpstr>Franklin Gothic Demi Cond</vt:lpstr>
      <vt:lpstr>Wingdings</vt:lpstr>
      <vt:lpstr>Thème Office</vt:lpstr>
      <vt:lpstr> Linear elastodynamics</vt:lpstr>
      <vt:lpstr>PowerPoint Presentation</vt:lpstr>
      <vt:lpstr>Summary</vt:lpstr>
      <vt:lpstr>Hypothesis</vt:lpstr>
      <vt:lpstr>Stress and strain tensors</vt:lpstr>
      <vt:lpstr>Generalized Hooke’s law</vt:lpstr>
      <vt:lpstr>Stress–strain relationship</vt:lpstr>
      <vt:lpstr>Differential equations of movement</vt:lpstr>
      <vt:lpstr>Boundary conditions</vt:lpstr>
      <vt:lpstr>Initial conditions</vt:lpstr>
      <vt:lpstr>Remarks</vt:lpstr>
      <vt:lpstr>Example: longitudinal vibration of a bar</vt:lpstr>
      <vt:lpstr>Weak formulation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Stefano Burzio</cp:lastModifiedBy>
  <cp:revision>68</cp:revision>
  <dcterms:created xsi:type="dcterms:W3CDTF">2019-04-02T06:24:35Z</dcterms:created>
  <dcterms:modified xsi:type="dcterms:W3CDTF">2024-12-19T10:25:08Z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